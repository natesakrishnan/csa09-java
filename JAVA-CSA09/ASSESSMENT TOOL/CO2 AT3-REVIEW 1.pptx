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0" r:id="rId4"/>
    <p:sldId id="259" r:id="rId5"/>
    <p:sldId id="267" r:id="rId6"/>
    <p:sldId id="258" r:id="rId7"/>
    <p:sldId id="268" r:id="rId8"/>
    <p:sldId id="269" r:id="rId9"/>
    <p:sldId id="264" r:id="rId10"/>
    <p:sldId id="266" r:id="rId11"/>
    <p:sldId id="265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esa krishnan V" userId="89fcff6419c60857" providerId="LiveId" clId="{C8F80F95-6095-4CE7-B05F-F0F26F6A0ED6}"/>
    <pc:docChg chg="modSld">
      <pc:chgData name="Natesa krishnan V" userId="89fcff6419c60857" providerId="LiveId" clId="{C8F80F95-6095-4CE7-B05F-F0F26F6A0ED6}" dt="2026-08-07T04:20:55.858" v="0" actId="1076"/>
      <pc:docMkLst>
        <pc:docMk/>
      </pc:docMkLst>
      <pc:sldChg chg="modSp mod">
        <pc:chgData name="Natesa krishnan V" userId="89fcff6419c60857" providerId="LiveId" clId="{C8F80F95-6095-4CE7-B05F-F0F26F6A0ED6}" dt="2026-08-07T04:20:55.858" v="0" actId="1076"/>
        <pc:sldMkLst>
          <pc:docMk/>
          <pc:sldMk cId="3033982871" sldId="269"/>
        </pc:sldMkLst>
        <pc:picChg chg="mod">
          <ac:chgData name="Natesa krishnan V" userId="89fcff6419c60857" providerId="LiveId" clId="{C8F80F95-6095-4CE7-B05F-F0F26F6A0ED6}" dt="2026-08-07T04:20:55.858" v="0" actId="1076"/>
          <ac:picMkLst>
            <pc:docMk/>
            <pc:sldMk cId="3033982871" sldId="269"/>
            <ac:picMk id="9" creationId="{D7B45F7B-D9A2-A496-4A20-F52DB40A061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C0919-CC7E-B27A-8182-59347DFA4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EF0F7-ED02-6615-F8DC-7677BF407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C3FE6-89EA-7EB6-ADEC-C5A7B377A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099B4-BEF0-A0F2-8FC0-AB85859FE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37E6D-66F0-B612-899D-26498A456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05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EAA34-1C74-012C-A6E1-83522B3F0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B9FF5-9DC3-0ADA-4C75-AE9E83229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94BF2-150F-15D4-A0A9-395750BB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7C32E-D045-76B2-5F79-5DB9FB58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0B170-01AD-5DA1-3CA5-1CC6A22D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201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F24D0-AD91-EFDA-EC6C-F444C8C57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BB184-B802-69F9-68A4-D79395229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652F6-1219-5CA2-6867-96C546D11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514BB-1264-C622-45D4-BCB7B5EB1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B50F2-259C-284A-5326-80A0E533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885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31E8A-E591-3CB4-A9FA-0D4762BE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1C6A-1237-98DB-C7E6-D998F8184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FE136-5184-3AB4-CCD0-DD26979BD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33B71D-F43F-E43D-E006-71B448A46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78398-7674-9406-B636-8974C9AD3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04C79-456B-C2ED-05AF-AB0485DF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378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0331-0503-9621-B01E-2614C2902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04ECDA-B49E-33BF-C9F9-7CD71A135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4348D-040D-80D0-806D-4CF3A12D7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0CB7FB-9622-96FD-9648-6B0DB4D3B9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F68F4-AEF0-E8E5-FEFD-5C9CF7D52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DDD6A-F385-8836-825E-DAC01A9D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A6D03F-4A42-5A2C-EFE6-395F2F9D4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5C413-3D4E-FDC0-9D77-2294BE25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985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62241-AB94-7F3C-E0B2-9E92BAF8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9B8619-4CC2-B9EC-EBEB-AD543E51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5CBF7-10BB-AB86-CCC1-8183C558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A459D-4104-C46B-32F0-9038FFF72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355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0DA74-A554-8B43-7C8F-FE11D04D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000C0C-4785-0A05-8A40-BA0E4D6E9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65979-8EC7-3378-E5DA-EB4374169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819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1CB84-34FD-BA17-0C49-F48E62CB9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08D6F-FE64-A51C-FFD4-0A4076FC0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49B1B-F7DB-271F-7CA1-B588931D5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5FD737-3B32-11A0-9A24-64DAFA350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4A057-0D5B-9435-ADB9-DCEC78C50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BF7238-51E5-94F1-E6BA-12392BCED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718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A4B4C-2C29-38FB-4BB0-52DF9F899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5C083-8677-6CCE-8CA1-428412DFA8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5A7F8-1DB7-AEB1-9AF8-CD6F06918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81064-8968-453F-9232-DE130544E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847C4C-D33D-8A13-AE0F-7C994DED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54660-F812-F1DB-1076-AEB425EA3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6058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75F0-38C1-867D-CE75-48D617849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D96F29-8F15-1A40-AB36-3B21975245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A5F17-1D59-548E-69E0-70FEAA66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40261-E5A6-A13E-6FF6-AAB562529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9DE62-1094-94B8-F415-18A8CFD02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220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8FDA8-C508-8427-FE65-9C8B68B85B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736CB-0BB0-23CB-46C6-6F4D957CE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2B764-D096-1010-F37D-DD76250EC5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E70F3E-50A7-2496-0E78-46E8DDD0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511E2-2FFA-7C87-0CED-DF7033EBA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791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5CA35-AA7D-1E16-34E5-2BA329E5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A914C-0138-8F5A-C19C-6A898B032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1197C8-D36E-F1FF-485D-F77ECEFED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66DC4-9C32-47D3-A1EF-43488086FB21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1FBD3-A4F1-433E-9179-CB97647ABA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9597C-F63E-57E0-A1A5-BBC3FEED0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E319B3-F370-4771-8345-DB703F004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563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522729B-2160-54BB-92B6-4E9392DF6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04922" y="4155574"/>
            <a:ext cx="4031974" cy="1946034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Praneeth (192372269)</a:t>
            </a:r>
          </a:p>
          <a:p>
            <a:pPr algn="l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Udaya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simha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(192372070)</a:t>
            </a:r>
          </a:p>
          <a:p>
            <a:pPr algn="l">
              <a:lnSpc>
                <a:spcPct val="10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Natesa krishnan V (192511311)</a:t>
            </a:r>
          </a:p>
          <a:p>
            <a:pPr algn="l">
              <a:lnSpc>
                <a:spcPct val="10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B1B06A65-7A2B-D8CA-D8D5-0DF970D15CE6}"/>
              </a:ext>
            </a:extLst>
          </p:cNvPr>
          <p:cNvSpPr txBox="1">
            <a:spLocks/>
          </p:cNvSpPr>
          <p:nvPr/>
        </p:nvSpPr>
        <p:spPr>
          <a:xfrm>
            <a:off x="778564" y="4630357"/>
            <a:ext cx="3955775" cy="996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algn="l">
              <a:lnSpc>
                <a:spcPct val="10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Sivasankar C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10A06B9-5988-DA12-18F4-825B137979E9}"/>
              </a:ext>
            </a:extLst>
          </p:cNvPr>
          <p:cNvSpPr txBox="1">
            <a:spLocks/>
          </p:cNvSpPr>
          <p:nvPr/>
        </p:nvSpPr>
        <p:spPr>
          <a:xfrm>
            <a:off x="4065106" y="2946573"/>
            <a:ext cx="4625008" cy="964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 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Programming</a:t>
            </a:r>
          </a:p>
          <a:p>
            <a:pPr algn="l">
              <a:lnSpc>
                <a:spcPct val="10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 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CSA0905</a:t>
            </a:r>
          </a:p>
        </p:txBody>
      </p:sp>
      <p:pic>
        <p:nvPicPr>
          <p:cNvPr id="7" name="Picture 2" descr="SIMATS ENGINEERING —BIOTECHNOLOGY">
            <a:extLst>
              <a:ext uri="{FF2B5EF4-FFF2-40B4-BE49-F238E27FC236}">
                <a16:creationId xmlns:a16="http://schemas.microsoft.com/office/drawing/2014/main" id="{919A35A5-A225-0F85-124C-CF3634298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1039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9693341B-6A5F-5921-7C51-154D48823296}"/>
              </a:ext>
            </a:extLst>
          </p:cNvPr>
          <p:cNvSpPr txBox="1">
            <a:spLocks/>
          </p:cNvSpPr>
          <p:nvPr/>
        </p:nvSpPr>
        <p:spPr>
          <a:xfrm>
            <a:off x="1394792" y="1569942"/>
            <a:ext cx="9402416" cy="964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Complaint Redressal and Public Service Monitoring Portal</a:t>
            </a:r>
          </a:p>
        </p:txBody>
      </p:sp>
    </p:spTree>
    <p:extLst>
      <p:ext uri="{BB962C8B-B14F-4D97-AF65-F5344CB8AC3E}">
        <p14:creationId xmlns:p14="http://schemas.microsoft.com/office/powerpoint/2010/main" val="983431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FE1C2-E750-32DF-56D3-655E080C6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4974" y="386867"/>
            <a:ext cx="9144000" cy="497716"/>
          </a:xfrm>
        </p:spPr>
        <p:txBody>
          <a:bodyPr>
            <a:no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49C86F-4834-59D6-FE8E-15300F5BB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630" y="1232452"/>
            <a:ext cx="10982739" cy="5168347"/>
          </a:xfrm>
        </p:spPr>
        <p:txBody>
          <a:bodyPr>
            <a:normAutofit lnSpcReduction="10000"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Intelligent Complaint Redressal and Public Service Monitoring Portal is a Java-based application designed to manage public complaints efficiently.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centralized platform where citizens can register complaints related to public services such as water supply, electricity, roads, sanitation, and other government departments.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assigns a unique complaint ID to every complaint, making it easy to identify and track.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monitor the status of their complaints through different stages, including Pending, In Progress, and Resolved.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by allowing citizens to view the progress of their complaints.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government departments respond to complaints quickly and efficiently, reducing delays in service delivery.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CAB550E-CE34-4FE1-CBE5-5C434E8DF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"/>
            <a:ext cx="869794" cy="884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2DCC6D-C16C-998E-C715-34AD904D4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884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147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091E-2251-3D65-45F0-77AAC6FA4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597"/>
          </a:xfrm>
        </p:spPr>
        <p:txBody>
          <a:bodyPr>
            <a:normAutofit/>
          </a:bodyPr>
          <a:lstStyle/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11A6C-D0E2-F397-FA91-654F850E6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808" y="1524850"/>
            <a:ext cx="11528384" cy="4824989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system for registering and managing public complaints efficiently.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citizens with an easy and user-friendly platform to submit complaints related to public services.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 unique complaint ID for each complaint to enable easy identification and tracking.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and administrators to monitor the status of complaints from registration to resolution.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transparency by providing real-time updates on complaint progress.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paperwork and simplify the complaint handling process through automation.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help government departments resolve complaints quickly and improve service quality.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accurate records of complaints for future reference and reporting.</a:t>
            </a:r>
          </a:p>
          <a:p>
            <a:pPr lvl="0"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A0780A94-E950-6B45-D081-A1AB08125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77806F-B847-45AD-85ED-023161FB5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81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27E7-DD3B-3C14-8C6B-2C70DAC17E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4608" y="382278"/>
            <a:ext cx="9144000" cy="666680"/>
          </a:xfrm>
        </p:spPr>
        <p:txBody>
          <a:bodyPr>
            <a:normAutofit/>
          </a:bodyPr>
          <a:lstStyle/>
          <a:p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BF8157-CED6-0133-B374-0791A1006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235" y="1272208"/>
            <a:ext cx="11787808" cy="5416827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public complaint systems are often manual, making the complaint registration and resolution process slow and inefficient.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Citizens face difficulties in tracking the status of their complaints, resulting in a lack of transparency and trust.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management can lead to misplaced documents, duplicate complaints, and data entry errors.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Delays in assigning and resolving complaints reduce the overall quality of public services.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departments often lack a centralized system to monitor complaints across different service areas.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proper monitoring, it is difficult to measure departmental performance and identify unresolved complaints.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real-time complaint status updates causes communication gaps between citizens and authorities.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E5813E5D-C7B1-05C1-DD6E-4A5918FFD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213928-2A99-24E6-D977-5EC2934F9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030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405D2-709B-883B-390E-FD3E39AC8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9149" y="98387"/>
            <a:ext cx="5913699" cy="618723"/>
          </a:xfrm>
        </p:spPr>
        <p:txBody>
          <a:bodyPr>
            <a:normAutofit/>
          </a:bodyPr>
          <a:lstStyle/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4AE17D-B2C0-D24D-5152-CE659209B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025939"/>
              </p:ext>
            </p:extLst>
          </p:nvPr>
        </p:nvGraphicFramePr>
        <p:xfrm>
          <a:off x="482276" y="775503"/>
          <a:ext cx="11227446" cy="5984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6281">
                  <a:extLst>
                    <a:ext uri="{9D8B030D-6E8A-4147-A177-3AD203B41FA5}">
                      <a16:colId xmlns:a16="http://schemas.microsoft.com/office/drawing/2014/main" val="829188825"/>
                    </a:ext>
                  </a:extLst>
                </a:gridCol>
                <a:gridCol w="2356201">
                  <a:extLst>
                    <a:ext uri="{9D8B030D-6E8A-4147-A177-3AD203B41FA5}">
                      <a16:colId xmlns:a16="http://schemas.microsoft.com/office/drawing/2014/main" val="1057879744"/>
                    </a:ext>
                  </a:extLst>
                </a:gridCol>
                <a:gridCol w="1871241">
                  <a:extLst>
                    <a:ext uri="{9D8B030D-6E8A-4147-A177-3AD203B41FA5}">
                      <a16:colId xmlns:a16="http://schemas.microsoft.com/office/drawing/2014/main" val="2538765245"/>
                    </a:ext>
                  </a:extLst>
                </a:gridCol>
                <a:gridCol w="1871241">
                  <a:extLst>
                    <a:ext uri="{9D8B030D-6E8A-4147-A177-3AD203B41FA5}">
                      <a16:colId xmlns:a16="http://schemas.microsoft.com/office/drawing/2014/main" val="1137810603"/>
                    </a:ext>
                  </a:extLst>
                </a:gridCol>
                <a:gridCol w="1871241">
                  <a:extLst>
                    <a:ext uri="{9D8B030D-6E8A-4147-A177-3AD203B41FA5}">
                      <a16:colId xmlns:a16="http://schemas.microsoft.com/office/drawing/2014/main" val="1542608603"/>
                    </a:ext>
                  </a:extLst>
                </a:gridCol>
                <a:gridCol w="1871241">
                  <a:extLst>
                    <a:ext uri="{9D8B030D-6E8A-4147-A177-3AD203B41FA5}">
                      <a16:colId xmlns:a16="http://schemas.microsoft.com/office/drawing/2014/main" val="2232890742"/>
                    </a:ext>
                  </a:extLst>
                </a:gridCol>
              </a:tblGrid>
              <a:tr h="4985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2964506"/>
                  </a:ext>
                </a:extLst>
              </a:tr>
              <a:tr h="974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Victoria Anthony Uwah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Complaint Management System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online complaint registration and tracking.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performance dashboard.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9937059"/>
                  </a:ext>
                </a:extLst>
              </a:tr>
              <a:tr h="974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Hanad Mohamud Mohamed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Complaint Management using ML and NLP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AI to classify complaints automatically.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public service monitoring.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0549627"/>
                  </a:ext>
                </a:extLst>
              </a:tr>
              <a:tr h="1127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Catalina Sierra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LLM-Based Complaint Management System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complaint processing using AI.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advanced AI infrastructure.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626080"/>
                  </a:ext>
                </a:extLst>
              </a:tr>
              <a:tr h="11278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C. Nandini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Complaint Management System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transparency and faster complaint resolution.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intelligent analytics.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041207"/>
                  </a:ext>
                </a:extLst>
              </a:tr>
              <a:tr h="12816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Research Team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 Grievance Redressal System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complaint tracking and monitoring.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detailed performance dashboard.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2012084"/>
                  </a:ext>
                </a:extLst>
              </a:tr>
            </a:tbl>
          </a:graphicData>
        </a:graphic>
      </p:graphicFrame>
      <p:pic>
        <p:nvPicPr>
          <p:cNvPr id="4" name="Picture 8">
            <a:extLst>
              <a:ext uri="{FF2B5EF4-FFF2-40B4-BE49-F238E27FC236}">
                <a16:creationId xmlns:a16="http://schemas.microsoft.com/office/drawing/2014/main" id="{EC827280-2367-720F-F7CE-FFDC2B888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71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E8E8D-9190-83C2-40D3-27772D1307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717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91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1BC85-C61F-1BF1-3231-BE3E9E33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5224"/>
            <a:ext cx="9144000" cy="537472"/>
          </a:xfrm>
        </p:spPr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C303C-A82D-23FA-812C-CEDB8B94E2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70142" y="2804939"/>
            <a:ext cx="6251715" cy="1546295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1. Complaint Registration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2. Resolution Tracking 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3. Performance Dashboard Module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77854501-A1C6-8337-2527-F303B360A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84911-D6CD-F9DF-B47A-E7B84989E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366569-A8FC-3F44-4602-C41132895E1E}"/>
              </a:ext>
            </a:extLst>
          </p:cNvPr>
          <p:cNvSpPr txBox="1"/>
          <p:nvPr/>
        </p:nvSpPr>
        <p:spPr>
          <a:xfrm>
            <a:off x="10785987" y="688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581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7AEDD-4798-9714-593C-3E56D76E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612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 system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C1075B08-57B5-3CC5-88F8-043AE0E55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891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BF0CA8-41E8-E8A6-5C56-3905C3256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891252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7A8556-AE20-9D02-0170-E0AF90E5A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21955"/>
              </p:ext>
            </p:extLst>
          </p:nvPr>
        </p:nvGraphicFramePr>
        <p:xfrm>
          <a:off x="1008926" y="996831"/>
          <a:ext cx="10174148" cy="5496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7074">
                  <a:extLst>
                    <a:ext uri="{9D8B030D-6E8A-4147-A177-3AD203B41FA5}">
                      <a16:colId xmlns:a16="http://schemas.microsoft.com/office/drawing/2014/main" val="2370771552"/>
                    </a:ext>
                  </a:extLst>
                </a:gridCol>
                <a:gridCol w="5087074">
                  <a:extLst>
                    <a:ext uri="{9D8B030D-6E8A-4147-A177-3AD203B41FA5}">
                      <a16:colId xmlns:a16="http://schemas.microsoft.com/office/drawing/2014/main" val="3859132564"/>
                    </a:ext>
                  </a:extLst>
                </a:gridCol>
              </a:tblGrid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342915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complaint registration through paper forms or office visits.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complaint registration through a Java-based application.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419009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Citizens cannot easily track the status of their complaints.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complaint status tracking (Pending, In Progress, Resolved).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96600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Complaint records are maintained manually, leading to delays and errors.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storage of complaint records for quick access and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6497821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centralized system for managing complaints from multiple departments.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complaint management for different public service departments.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216708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transparency in the complaint resolution process.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transparent complaint tracking and regular status updates.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0766209"/>
                  </a:ext>
                </a:extLst>
              </a:tr>
              <a:tr h="785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dashboard to monitor complaint statistics and department performance.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dashboard showing total, pending, in-progress, and resolved complaints.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7342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290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7C44-193E-924A-DC99-0D2C50494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2424"/>
          </a:xfrm>
        </p:spPr>
        <p:txBody>
          <a:bodyPr>
            <a:normAutofit/>
          </a:bodyPr>
          <a:lstStyle/>
          <a:p>
            <a:pPr algn="ctr"/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CEBE1301-1EED-2358-C6D0-751F0A123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118EEB-D705-2A00-1370-8D1E27437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7B45F7B-D9A2-A496-4A20-F52DB40A0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524000" y="1402067"/>
            <a:ext cx="9144000" cy="4874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982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F4F1A-67B4-BB84-2A61-0365D8CAB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017"/>
            <a:ext cx="9144000" cy="660813"/>
          </a:xfrm>
        </p:spPr>
        <p:txBody>
          <a:bodyPr>
            <a:normAutofit/>
          </a:bodyPr>
          <a:lstStyle/>
          <a:p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3B9E05-B5B3-C757-2FCA-55F43290F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4761" y="1441173"/>
            <a:ext cx="10162478" cy="4810540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transparency by providing real-time updates on complaint progress.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Resolution Tracking Module helps administrators manage and resolve complaints efficiently.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 Dashboard Module provides useful statistics for monitoring departmental performance and service quality.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reduces manual paperwork, minimizes delays, and improves the overall complaint management process.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Java and Object-Oriented Programming (OOP) concepts, the system is reliable, user-friendly, and easy to maintain.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89F9B8BD-75AC-9DA7-2AC9-9E2FE56B67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6FC2B2-3917-40C8-AFD6-4C4C54564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431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D047-023C-7ACC-D32A-184515A62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86868"/>
            <a:ext cx="9144000" cy="636863"/>
          </a:xfrm>
        </p:spPr>
        <p:txBody>
          <a:bodyPr>
            <a:normAutofit/>
          </a:bodyPr>
          <a:lstStyle/>
          <a:p>
            <a: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BB9246-DD8F-0324-9B02-98D4DA08B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297" y="1778346"/>
            <a:ext cx="10275405" cy="413467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the portal as a web and mobile application for easier access by citizens.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AI-based complaint classification to automatically categorize complaints by department.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SMS and email notifications to provide real-time updates on complaint status.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GPS/location-based complaint reporting with photo uploads for accurate issue identification.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priority-based complaint handling for emergency and critical public service issues.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12AB535-349A-1F5F-9E8F-E59DA835E0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869794" cy="115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251B63-7A24-1C31-31E4-45EAC082C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273" y="0"/>
            <a:ext cx="1159726" cy="11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37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E9787-2B17-7114-0529-9996DD9DB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78426" y="2692054"/>
            <a:ext cx="6235148" cy="101524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00434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868FBC-F86B-1D86-925C-74AED547C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26026"/>
            <a:ext cx="9144000" cy="5805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571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828</Words>
  <Application>Microsoft Office PowerPoint</Application>
  <PresentationFormat>Widescreen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PowerPoint Presentation</vt:lpstr>
      <vt:lpstr>Introduction</vt:lpstr>
      <vt:lpstr>Objectives</vt:lpstr>
      <vt:lpstr>Problem statement</vt:lpstr>
      <vt:lpstr>Literature survey</vt:lpstr>
      <vt:lpstr>Modules</vt:lpstr>
      <vt:lpstr>Existing vs Proposed system</vt:lpstr>
      <vt:lpstr>System Architecture</vt:lpstr>
      <vt:lpstr>Conclusion</vt:lpstr>
      <vt:lpstr>Future Scope</vt:lpstr>
      <vt:lpstr>THANK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Natesa krishnan V</dc:creator>
  <cp:lastModifiedBy>Natesa krishnan V</cp:lastModifiedBy>
  <cp:revision>2</cp:revision>
  <dcterms:created xsi:type="dcterms:W3CDTF">2026-07-31T15:09:56Z</dcterms:created>
  <dcterms:modified xsi:type="dcterms:W3CDTF">2026-08-07T04:21:02Z</dcterms:modified>
</cp:coreProperties>
</file>